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5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5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image" Target="../media/image-7-5.jpg"/><Relationship Id="rId6" Type="http://schemas.openxmlformats.org/officeDocument/2006/relationships/image" Target="../media/image-7-6.jp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image" Target="../media/image-11-4.png"/><Relationship Id="rId5" Type="http://schemas.openxmlformats.org/officeDocument/2006/relationships/image" Target="../media/image-11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image" Target="../media/image-12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photorealistic_outdoor_scene_a_batch_1.jpg">    </p:cNvPr>
          <p:cNvPicPr>
            <a:picLocks noChangeAspect="1"/>
          </p:cNvPicPr>
          <p:nvPr/>
        </p:nvPicPr>
        <p:blipFill>
          <a:blip r:embed="rId1"/>
          <a:srcRect l="0" r="-5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080760" cy="6858000"/>
          </a:xfrm>
          <a:prstGeom prst="rect">
            <a:avLst/>
          </a:prstGeom>
          <a:solidFill>
            <a:srgbClr val="071A33"/>
          </a:solidFill>
          <a:ln w="12700">
            <a:solidFill>
              <a:srgbClr val="071A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212080" y="0"/>
            <a:ext cx="1280160" cy="6858000"/>
          </a:xfrm>
          <a:prstGeom prst="rect">
            <a:avLst/>
          </a:prstGeom>
          <a:solidFill>
            <a:srgbClr val="071A33">
              <a:alpha val="62000"/>
            </a:srgbClr>
          </a:solidFill>
          <a:ln w="12700">
            <a:solidFill>
              <a:srgbClr val="071A33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8368" y="1280160"/>
            <a:ext cx="73152" cy="3566160"/>
          </a:xfrm>
          <a:prstGeom prst="rect">
            <a:avLst/>
          </a:prstGeom>
          <a:solidFill>
            <a:srgbClr val="E83526"/>
          </a:solidFill>
          <a:ln w="12700">
            <a:solidFill>
              <a:srgbClr val="E83526">
                <a:alpha val="0"/>
              </a:srgbClr>
            </a:solidFill>
            <a:prstDash val="solid"/>
          </a:ln>
        </p:spPr>
      </p:sp>
      <p:pic>
        <p:nvPicPr>
          <p:cNvPr id="6" name="Image 1" descr="/mnt/data/ir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468" y="402336"/>
            <a:ext cx="640080" cy="6949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0392" y="1444752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spc="20" kern="0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VOTRE PROJET</a:t>
            </a:r>
            <a:endParaRPr lang="en-US" sz="3200" dirty="0"/>
          </a:p>
          <a:p>
            <a:pPr indent="0" marL="0">
              <a:buNone/>
            </a:pPr>
            <a:r>
              <a:rPr lang="en-US" sz="3200" b="1" spc="20" kern="0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CANADA COMMENCE ICI</a:t>
            </a:r>
            <a:endParaRPr lang="en-US" sz="3200" dirty="0"/>
          </a:p>
        </p:txBody>
      </p:sp>
      <p:sp>
        <p:nvSpPr>
          <p:cNvPr id="8" name="Text 4"/>
          <p:cNvSpPr/>
          <p:nvPr/>
        </p:nvSpPr>
        <p:spPr>
          <a:xfrm>
            <a:off x="868680" y="3090672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CFE0F5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Immigration. Carrière. Installation.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868680" y="3557016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 seul écosystème pour transformer une ambition en projet de vie structuré.</a:t>
            </a:r>
            <a:endParaRPr lang="en-US" sz="1720" dirty="0"/>
          </a:p>
        </p:txBody>
      </p:sp>
      <p:sp>
        <p:nvSpPr>
          <p:cNvPr id="10" name="Shape 6"/>
          <p:cNvSpPr/>
          <p:nvPr/>
        </p:nvSpPr>
        <p:spPr>
          <a:xfrm>
            <a:off x="868680" y="4864608"/>
            <a:ext cx="26974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68680" y="487375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C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STRATÉGIE • RIGUEUR • HUMAIN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868680" y="619048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9E6F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ir-immigration.com   |   WhatsApp 819 919 8683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5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risp_cinematic_realistic_winter_street_scene_batch_2.jpg">    </p:cNvPr>
          <p:cNvPicPr>
            <a:picLocks noChangeAspect="1"/>
          </p:cNvPicPr>
          <p:nvPr/>
        </p:nvPicPr>
        <p:blipFill>
          <a:blip r:embed="rId1"/>
          <a:srcRect l="5000" r="48078" t="0" b="0"/>
          <a:stretch/>
        </p:blipFill>
        <p:spPr>
          <a:xfrm>
            <a:off x="6473952" y="0"/>
            <a:ext cx="5717743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26480" y="0"/>
            <a:ext cx="64008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/mnt/data/logo Ir immigr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148" y="347472"/>
            <a:ext cx="640080" cy="6949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8368" y="1207008"/>
            <a:ext cx="5230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0233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VOUS NE CHERCHEZ PAS</a:t>
            </a:r>
            <a:endParaRPr lang="en-US" sz="2850" dirty="0"/>
          </a:p>
          <a:p>
            <a:pPr indent="0" marL="0">
              <a:buNone/>
            </a:pPr>
            <a:r>
              <a:rPr lang="en-US" sz="2850" b="1" dirty="0">
                <a:solidFill>
                  <a:srgbClr val="10233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SEULEMENT UN VISA</a:t>
            </a:r>
            <a:endParaRPr lang="en-US" sz="2850" dirty="0"/>
          </a:p>
        </p:txBody>
      </p:sp>
      <p:sp>
        <p:nvSpPr>
          <p:cNvPr id="6" name="Text 2"/>
          <p:cNvSpPr/>
          <p:nvPr/>
        </p:nvSpPr>
        <p:spPr>
          <a:xfrm>
            <a:off x="658368" y="230428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3C8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Vous cherchez une vie qui tient debout.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658368" y="288036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60" dirty="0">
                <a:solidFill>
                  <a:srgbClr val="5E6C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 document d'immigration n'est qu'une étape. Le vrai projet se joue dans ce qui vient avant et dans ce qui vient après.</a:t>
            </a:r>
            <a:endParaRPr lang="en-US" sz="1560" dirty="0"/>
          </a:p>
        </p:txBody>
      </p:sp>
      <p:sp>
        <p:nvSpPr>
          <p:cNvPr id="8" name="Shape 4"/>
          <p:cNvSpPr/>
          <p:nvPr/>
        </p:nvSpPr>
        <p:spPr>
          <a:xfrm>
            <a:off x="694944" y="4023360"/>
            <a:ext cx="82296" cy="82296"/>
          </a:xfrm>
          <a:prstGeom prst="ellipse">
            <a:avLst/>
          </a:prstGeom>
          <a:solidFill>
            <a:srgbClr val="E83526"/>
          </a:solidFill>
          <a:ln w="12700">
            <a:solidFill>
              <a:srgbClr val="E83526">
                <a:alpha val="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68680" y="3913632"/>
            <a:ext cx="4626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02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Une carrière à la hauteur de vos compétences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94944" y="4526280"/>
            <a:ext cx="82296" cy="82296"/>
          </a:xfrm>
          <a:prstGeom prst="ellipse">
            <a:avLst/>
          </a:prstGeom>
          <a:solidFill>
            <a:srgbClr val="E83526"/>
          </a:solidFill>
          <a:ln w="12700">
            <a:solidFill>
              <a:srgbClr val="E83526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68680" y="4416552"/>
            <a:ext cx="4626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02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Une famille installée avec des repères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94944" y="5029200"/>
            <a:ext cx="82296" cy="82296"/>
          </a:xfrm>
          <a:prstGeom prst="ellipse">
            <a:avLst/>
          </a:prstGeom>
          <a:solidFill>
            <a:srgbClr val="E83526"/>
          </a:solidFill>
          <a:ln w="12700">
            <a:solidFill>
              <a:srgbClr val="E83526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68680" y="4919472"/>
            <a:ext cx="4626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02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 études choisies pour un vrai projet d'avenir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694944" y="5532120"/>
            <a:ext cx="82296" cy="82296"/>
          </a:xfrm>
          <a:prstGeom prst="ellipse">
            <a:avLst/>
          </a:prstGeom>
          <a:solidFill>
            <a:srgbClr val="E83526"/>
          </a:solidFill>
          <a:ln w="12700">
            <a:solidFill>
              <a:srgbClr val="E83526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68680" y="5422392"/>
            <a:ext cx="4626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02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Une transition préparée, pas improvisée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658368" y="6492240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7A87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ir-immigration.com   •   WhatsApp 819 919 8683</a:t>
            </a:r>
            <a:endParaRPr lang="en-US" sz="8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5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 Ir immig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5580" y="274320"/>
            <a:ext cx="640080" cy="6949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75488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spc="10" kern="0" dirty="0">
                <a:solidFill>
                  <a:srgbClr val="10233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LE CANADA CONTINUE D’ACCUEILLIR. LA SÉLECTION EST PLUS CIBLÉE.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658368" y="1188720"/>
            <a:ext cx="566928" cy="50292"/>
          </a:xfrm>
          <a:prstGeom prst="rect">
            <a:avLst/>
          </a:prstGeom>
          <a:solidFill>
            <a:srgbClr val="E83526"/>
          </a:solidFill>
          <a:ln w="12700">
            <a:solidFill>
              <a:srgbClr val="E83526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1325880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5E6C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 possibilités restent réelles, mais le profil, la stratégie et la qualité du dossier comptent davantage.</a:t>
            </a:r>
            <a:endParaRPr lang="en-US" sz="1510" dirty="0"/>
          </a:p>
        </p:txBody>
      </p:sp>
      <p:sp>
        <p:nvSpPr>
          <p:cNvPr id="6" name="Shape 3"/>
          <p:cNvSpPr/>
          <p:nvPr/>
        </p:nvSpPr>
        <p:spPr>
          <a:xfrm>
            <a:off x="658368" y="1993392"/>
            <a:ext cx="5230368" cy="1627632"/>
          </a:xfrm>
          <a:prstGeom prst="roundRect">
            <a:avLst>
              <a:gd name="adj" fmla="val 1011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993392"/>
            <a:ext cx="100584" cy="1627632"/>
          </a:xfrm>
          <a:prstGeom prst="rect">
            <a:avLst/>
          </a:prstGeom>
          <a:solidFill>
            <a:srgbClr val="003C82"/>
          </a:solidFill>
          <a:ln w="12700">
            <a:solidFill>
              <a:srgbClr val="003C82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78408" y="219456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003C8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380 000</a:t>
            </a:r>
            <a:endParaRPr lang="en-US" sz="2950" dirty="0"/>
          </a:p>
        </p:txBody>
      </p:sp>
      <p:sp>
        <p:nvSpPr>
          <p:cNvPr id="9" name="Text 6"/>
          <p:cNvSpPr/>
          <p:nvPr/>
        </p:nvSpPr>
        <p:spPr>
          <a:xfrm>
            <a:off x="2743200" y="2194560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02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admissions de résidents permanents prévues chaque année</a:t>
            </a:r>
            <a:endParaRPr lang="en-US" sz="1370" dirty="0"/>
          </a:p>
        </p:txBody>
      </p:sp>
      <p:sp>
        <p:nvSpPr>
          <p:cNvPr id="10" name="Text 7"/>
          <p:cNvSpPr/>
          <p:nvPr/>
        </p:nvSpPr>
        <p:spPr>
          <a:xfrm>
            <a:off x="2743200" y="2980944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C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2026 à 2028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91072" y="1993392"/>
            <a:ext cx="5230368" cy="1627632"/>
          </a:xfrm>
          <a:prstGeom prst="roundRect">
            <a:avLst>
              <a:gd name="adj" fmla="val 1011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91072" y="1993392"/>
            <a:ext cx="100584" cy="1627632"/>
          </a:xfrm>
          <a:prstGeom prst="rect">
            <a:avLst/>
          </a:prstGeom>
          <a:solidFill>
            <a:srgbClr val="003C82"/>
          </a:solidFill>
          <a:ln w="12700">
            <a:solidFill>
              <a:srgbClr val="003C82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11112" y="219456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003C8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64 %</a:t>
            </a:r>
            <a:endParaRPr lang="en-US" sz="2950" dirty="0"/>
          </a:p>
        </p:txBody>
      </p:sp>
      <p:sp>
        <p:nvSpPr>
          <p:cNvPr id="14" name="Text 11"/>
          <p:cNvSpPr/>
          <p:nvPr/>
        </p:nvSpPr>
        <p:spPr>
          <a:xfrm>
            <a:off x="8375904" y="2194560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02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part de l’immigration économique visée</a:t>
            </a:r>
            <a:endParaRPr lang="en-US" sz="1370" dirty="0"/>
          </a:p>
        </p:txBody>
      </p:sp>
      <p:sp>
        <p:nvSpPr>
          <p:cNvPr id="15" name="Text 12"/>
          <p:cNvSpPr/>
          <p:nvPr/>
        </p:nvSpPr>
        <p:spPr>
          <a:xfrm>
            <a:off x="8375904" y="2980944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C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 2027 et 2028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58368" y="4005072"/>
            <a:ext cx="5230368" cy="1627632"/>
          </a:xfrm>
          <a:prstGeom prst="roundRect">
            <a:avLst>
              <a:gd name="adj" fmla="val 1011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8368" y="4005072"/>
            <a:ext cx="100584" cy="1627632"/>
          </a:xfrm>
          <a:prstGeom prst="rect">
            <a:avLst/>
          </a:prstGeom>
          <a:solidFill>
            <a:srgbClr val="003C82"/>
          </a:solidFill>
          <a:ln w="12700">
            <a:solidFill>
              <a:srgbClr val="003C82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78408" y="420624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003C8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9 %</a:t>
            </a:r>
            <a:endParaRPr lang="en-US" sz="2950" dirty="0"/>
          </a:p>
        </p:txBody>
      </p:sp>
      <p:sp>
        <p:nvSpPr>
          <p:cNvPr id="19" name="Text 16"/>
          <p:cNvSpPr/>
          <p:nvPr/>
        </p:nvSpPr>
        <p:spPr>
          <a:xfrm>
            <a:off x="2743200" y="4206240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02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cible de résidents permanents francophones hors Québec</a:t>
            </a:r>
            <a:endParaRPr lang="en-US" sz="1370" dirty="0"/>
          </a:p>
        </p:txBody>
      </p:sp>
      <p:sp>
        <p:nvSpPr>
          <p:cNvPr id="20" name="Text 17"/>
          <p:cNvSpPr/>
          <p:nvPr/>
        </p:nvSpPr>
        <p:spPr>
          <a:xfrm>
            <a:off x="2743200" y="4992624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C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2026 • 10,5 % en 2028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291072" y="4005072"/>
            <a:ext cx="5230368" cy="1627632"/>
          </a:xfrm>
          <a:prstGeom prst="roundRect">
            <a:avLst>
              <a:gd name="adj" fmla="val 1011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291072" y="4005072"/>
            <a:ext cx="100584" cy="1627632"/>
          </a:xfrm>
          <a:prstGeom prst="rect">
            <a:avLst/>
          </a:prstGeom>
          <a:solidFill>
            <a:srgbClr val="E83526"/>
          </a:solidFill>
          <a:ln w="12700">
            <a:solidFill>
              <a:srgbClr val="E83526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11112" y="420624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E8352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1,25</a:t>
            </a:r>
            <a:endParaRPr lang="en-US" sz="2950" dirty="0"/>
          </a:p>
        </p:txBody>
      </p:sp>
      <p:sp>
        <p:nvSpPr>
          <p:cNvPr id="24" name="Text 21"/>
          <p:cNvSpPr/>
          <p:nvPr/>
        </p:nvSpPr>
        <p:spPr>
          <a:xfrm>
            <a:off x="8375904" y="4206240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02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enfant par femme au Canada, un creux historique</a:t>
            </a:r>
            <a:endParaRPr lang="en-US" sz="1370" dirty="0"/>
          </a:p>
        </p:txBody>
      </p:sp>
      <p:sp>
        <p:nvSpPr>
          <p:cNvPr id="25" name="Text 22"/>
          <p:cNvSpPr/>
          <p:nvPr/>
        </p:nvSpPr>
        <p:spPr>
          <a:xfrm>
            <a:off x="8375904" y="4992624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C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donnée 2024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58368" y="594360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03C8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Les portes existent. La préparation fait la différence.</a:t>
            </a:r>
            <a:endParaRPr lang="en-US" sz="1900" dirty="0"/>
          </a:p>
        </p:txBody>
      </p:sp>
      <p:sp>
        <p:nvSpPr>
          <p:cNvPr id="27" name="Text 24"/>
          <p:cNvSpPr/>
          <p:nvPr/>
        </p:nvSpPr>
        <p:spPr>
          <a:xfrm>
            <a:off x="658368" y="6492240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95A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Sources : IRCC, Plan des niveaux d’immigration 2026-2028. Statistique Canada, fécondité 2024.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5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r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292608"/>
            <a:ext cx="640080" cy="6949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7548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spc="10" kern="0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POURQUOI TANT DE PROJETS SE COMPLIQUENT ?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658368" y="1188720"/>
            <a:ext cx="566928" cy="50292"/>
          </a:xfrm>
          <a:prstGeom prst="rect">
            <a:avLst/>
          </a:prstGeom>
          <a:solidFill>
            <a:srgbClr val="E83526"/>
          </a:solidFill>
          <a:ln w="12700">
            <a:solidFill>
              <a:srgbClr val="E83526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132588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BFD4E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Une bonne intention ne remplace pas une bonne stratégie.</a:t>
            </a:r>
            <a:endParaRPr lang="en-US" sz="2050" dirty="0"/>
          </a:p>
        </p:txBody>
      </p:sp>
      <p:sp>
        <p:nvSpPr>
          <p:cNvPr id="6" name="Shape 3"/>
          <p:cNvSpPr/>
          <p:nvPr/>
        </p:nvSpPr>
        <p:spPr>
          <a:xfrm>
            <a:off x="658368" y="2057400"/>
            <a:ext cx="5230368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7394BA">
                <a:alpha val="35000"/>
              </a:srgbClr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688" y="2404872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99616" y="2276856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7EA4D1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</a:t>
            </a:r>
            <a:endParaRPr lang="en-US" sz="2500" dirty="0"/>
          </a:p>
        </p:txBody>
      </p:sp>
      <p:sp>
        <p:nvSpPr>
          <p:cNvPr id="9" name="Text 5"/>
          <p:cNvSpPr/>
          <p:nvPr/>
        </p:nvSpPr>
        <p:spPr>
          <a:xfrm>
            <a:off x="1984248" y="2295144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La mauvaise voie est choisie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1984248" y="275234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D7E4F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 projet commence sans vraie lecture du profil et de l’admissibilité.</a:t>
            </a:r>
            <a:endParaRPr lang="en-US" sz="1210" dirty="0"/>
          </a:p>
        </p:txBody>
      </p:sp>
      <p:sp>
        <p:nvSpPr>
          <p:cNvPr id="11" name="Shape 7"/>
          <p:cNvSpPr/>
          <p:nvPr/>
        </p:nvSpPr>
        <p:spPr>
          <a:xfrm>
            <a:off x="6272784" y="2057400"/>
            <a:ext cx="5230368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7394BA">
                <a:alpha val="3500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7104" y="2404872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14032" y="2276856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7EA4D1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Text 9"/>
          <p:cNvSpPr/>
          <p:nvPr/>
        </p:nvSpPr>
        <p:spPr>
          <a:xfrm>
            <a:off x="7598664" y="2295144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Le dossier manque de cohérence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598664" y="275234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D7E4F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Documents, preuves et récit ne racontent pas la même histoire.</a:t>
            </a:r>
            <a:endParaRPr lang="en-US" sz="1210" dirty="0"/>
          </a:p>
        </p:txBody>
      </p:sp>
      <p:sp>
        <p:nvSpPr>
          <p:cNvPr id="16" name="Shape 11"/>
          <p:cNvSpPr/>
          <p:nvPr/>
        </p:nvSpPr>
        <p:spPr>
          <a:xfrm>
            <a:off x="658368" y="4160520"/>
            <a:ext cx="5230368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7394BA">
                <a:alpha val="35000"/>
              </a:srgbClr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2688" y="4507992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99616" y="4379976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7EA4D1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3</a:t>
            </a:r>
            <a:endParaRPr lang="en-US" sz="2500" dirty="0"/>
          </a:p>
        </p:txBody>
      </p:sp>
      <p:sp>
        <p:nvSpPr>
          <p:cNvPr id="19" name="Text 13"/>
          <p:cNvSpPr/>
          <p:nvPr/>
        </p:nvSpPr>
        <p:spPr>
          <a:xfrm>
            <a:off x="1984248" y="4398264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La carrière est préparée trop tard</a:t>
            </a:r>
            <a:endParaRPr lang="en-US" sz="1750" dirty="0"/>
          </a:p>
        </p:txBody>
      </p:sp>
      <p:sp>
        <p:nvSpPr>
          <p:cNvPr id="20" name="Text 14"/>
          <p:cNvSpPr/>
          <p:nvPr/>
        </p:nvSpPr>
        <p:spPr>
          <a:xfrm>
            <a:off x="1984248" y="485546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D7E4F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 candidat pense au marché du travail seulement après son arrivée.</a:t>
            </a:r>
            <a:endParaRPr lang="en-US" sz="1210" dirty="0"/>
          </a:p>
        </p:txBody>
      </p:sp>
      <p:sp>
        <p:nvSpPr>
          <p:cNvPr id="21" name="Shape 15"/>
          <p:cNvSpPr/>
          <p:nvPr/>
        </p:nvSpPr>
        <p:spPr>
          <a:xfrm>
            <a:off x="6272784" y="4160520"/>
            <a:ext cx="5230368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7394BA">
                <a:alpha val="35000"/>
              </a:srgbClr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7104" y="4507992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114032" y="4379976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7EA4D1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4</a:t>
            </a:r>
            <a:endParaRPr lang="en-US" sz="2500" dirty="0"/>
          </a:p>
        </p:txBody>
      </p:sp>
      <p:sp>
        <p:nvSpPr>
          <p:cNvPr id="24" name="Text 17"/>
          <p:cNvSpPr/>
          <p:nvPr/>
        </p:nvSpPr>
        <p:spPr>
          <a:xfrm>
            <a:off x="7598664" y="4398264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L’installation est laissée au hasard</a:t>
            </a:r>
            <a:endParaRPr lang="en-US" sz="1750" dirty="0"/>
          </a:p>
        </p:txBody>
      </p:sp>
      <p:sp>
        <p:nvSpPr>
          <p:cNvPr id="25" name="Text 18"/>
          <p:cNvSpPr/>
          <p:nvPr/>
        </p:nvSpPr>
        <p:spPr>
          <a:xfrm>
            <a:off x="7598664" y="485546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D7E4F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Logement, démarches et repères se transforment en urgence.</a:t>
            </a:r>
            <a:endParaRPr lang="en-US" sz="1210" dirty="0"/>
          </a:p>
        </p:txBody>
      </p:sp>
      <p:sp>
        <p:nvSpPr>
          <p:cNvPr id="26" name="Text 19"/>
          <p:cNvSpPr/>
          <p:nvPr/>
        </p:nvSpPr>
        <p:spPr>
          <a:xfrm>
            <a:off x="658368" y="610819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Chez IR, immigration, carrière et installation sont travaillées ensemble.</a:t>
            </a:r>
            <a:endParaRPr lang="en-US" sz="1850" dirty="0"/>
          </a:p>
        </p:txBody>
      </p:sp>
      <p:sp>
        <p:nvSpPr>
          <p:cNvPr id="27" name="Text 20"/>
          <p:cNvSpPr/>
          <p:nvPr/>
        </p:nvSpPr>
        <p:spPr>
          <a:xfrm>
            <a:off x="658368" y="6492240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BFD4E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ir-immigration.com   •   WhatsApp 819 919 8683</a:t>
            </a:r>
            <a:endParaRPr lang="en-US" sz="8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5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 Ir immig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274320"/>
            <a:ext cx="640080" cy="6949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75488"/>
            <a:ext cx="8641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spc="10" kern="0" dirty="0">
                <a:solidFill>
                  <a:srgbClr val="10233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LA DIFFÉRENCE IR : 3 EXPERTISES, 1 SEUL PROJET DE VIE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658368" y="1188720"/>
            <a:ext cx="566928" cy="50292"/>
          </a:xfrm>
          <a:prstGeom prst="rect">
            <a:avLst/>
          </a:prstGeom>
          <a:solidFill>
            <a:srgbClr val="E83526"/>
          </a:solidFill>
          <a:ln w="12700">
            <a:solidFill>
              <a:srgbClr val="E83526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1325880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90" dirty="0">
                <a:solidFill>
                  <a:srgbClr val="5E6C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Vous ne changez pas d’équipe à chaque étape. Nous connectons les enjeux qui décident de la qualité de votre parcours.</a:t>
            </a:r>
            <a:endParaRPr lang="en-US" sz="1490" dirty="0"/>
          </a:p>
        </p:txBody>
      </p:sp>
      <p:sp>
        <p:nvSpPr>
          <p:cNvPr id="6" name="Shape 3"/>
          <p:cNvSpPr/>
          <p:nvPr/>
        </p:nvSpPr>
        <p:spPr>
          <a:xfrm>
            <a:off x="658368" y="2148840"/>
            <a:ext cx="3081528" cy="3182112"/>
          </a:xfrm>
          <a:prstGeom prst="roundRect">
            <a:avLst>
              <a:gd name="adj" fmla="val 5341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737360" y="2468880"/>
            <a:ext cx="914400" cy="914400"/>
          </a:xfrm>
          <a:prstGeom prst="ellipse">
            <a:avLst/>
          </a:prstGeom>
          <a:solidFill>
            <a:srgbClr val="EAF2FB"/>
          </a:solidFill>
          <a:ln w="12700">
            <a:solidFill>
              <a:srgbClr val="EAF2FB">
                <a:alpha val="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1680" y="27432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50976" y="3611880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003C8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IMMIGRATION</a:t>
            </a:r>
            <a:endParaRPr lang="en-US" sz="1820" dirty="0"/>
          </a:p>
        </p:txBody>
      </p:sp>
      <p:sp>
        <p:nvSpPr>
          <p:cNvPr id="10" name="Text 6"/>
          <p:cNvSpPr/>
          <p:nvPr/>
        </p:nvSpPr>
        <p:spPr>
          <a:xfrm>
            <a:off x="987552" y="4142232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5E6C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Analyse du profil, stratégie, préparation et coordination du dossier. Professionnels autorisés mobilisés lorsque requis.</a:t>
            </a:r>
            <a:endParaRPr lang="en-US" sz="1230" dirty="0"/>
          </a:p>
        </p:txBody>
      </p:sp>
      <p:sp>
        <p:nvSpPr>
          <p:cNvPr id="11" name="Shape 7"/>
          <p:cNvSpPr/>
          <p:nvPr/>
        </p:nvSpPr>
        <p:spPr>
          <a:xfrm>
            <a:off x="4215384" y="2148840"/>
            <a:ext cx="3081528" cy="3182112"/>
          </a:xfrm>
          <a:prstGeom prst="roundRect">
            <a:avLst>
              <a:gd name="adj" fmla="val 5341"/>
            </a:avLst>
          </a:prstGeom>
          <a:solidFill>
            <a:srgbClr val="F4F8FD"/>
          </a:solidFill>
          <a:ln w="12700">
            <a:solidFill>
              <a:srgbClr val="F4F8FD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294376" y="2468880"/>
            <a:ext cx="914400" cy="914400"/>
          </a:xfrm>
          <a:prstGeom prst="ellipse">
            <a:avLst/>
          </a:prstGeom>
          <a:solidFill>
            <a:srgbClr val="003C82"/>
          </a:solidFill>
          <a:ln w="12700">
            <a:solidFill>
              <a:srgbClr val="003C82">
                <a:alpha val="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68696" y="27432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07992" y="3611880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003C8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CARRIÈRE &amp; EMPLOI</a:t>
            </a:r>
            <a:endParaRPr lang="en-US" sz="1820" dirty="0"/>
          </a:p>
        </p:txBody>
      </p:sp>
      <p:sp>
        <p:nvSpPr>
          <p:cNvPr id="15" name="Text 10"/>
          <p:cNvSpPr/>
          <p:nvPr/>
        </p:nvSpPr>
        <p:spPr>
          <a:xfrm>
            <a:off x="4544568" y="4142232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5E6C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Positionnement métier, CV, entrevue, orientation vers les exigences du marché et réseau professionnel.</a:t>
            </a:r>
            <a:endParaRPr lang="en-US" sz="1230" dirty="0"/>
          </a:p>
        </p:txBody>
      </p:sp>
      <p:sp>
        <p:nvSpPr>
          <p:cNvPr id="16" name="Shape 11"/>
          <p:cNvSpPr/>
          <p:nvPr/>
        </p:nvSpPr>
        <p:spPr>
          <a:xfrm>
            <a:off x="7772400" y="2148840"/>
            <a:ext cx="3081528" cy="3182112"/>
          </a:xfrm>
          <a:prstGeom prst="roundRect">
            <a:avLst>
              <a:gd name="adj" fmla="val 5341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851392" y="2468880"/>
            <a:ext cx="914400" cy="914400"/>
          </a:xfrm>
          <a:prstGeom prst="ellipse">
            <a:avLst/>
          </a:prstGeom>
          <a:solidFill>
            <a:srgbClr val="EAF2FB"/>
          </a:solidFill>
          <a:ln w="12700">
            <a:solidFill>
              <a:srgbClr val="EAF2FB">
                <a:alpha val="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25712" y="274320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065008" y="3611880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003C8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CONCIERGERIE</a:t>
            </a:r>
            <a:endParaRPr lang="en-US" sz="1820" dirty="0"/>
          </a:p>
        </p:txBody>
      </p:sp>
      <p:sp>
        <p:nvSpPr>
          <p:cNvPr id="20" name="Text 14"/>
          <p:cNvSpPr/>
          <p:nvPr/>
        </p:nvSpPr>
        <p:spPr>
          <a:xfrm>
            <a:off x="8101584" y="4142232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5E6C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Logement, accueil, démarches pratiques et installation pour arriver avec des repères concrets.</a:t>
            </a:r>
            <a:endParaRPr lang="en-US" sz="1230" dirty="0"/>
          </a:p>
        </p:txBody>
      </p:sp>
      <p:sp>
        <p:nvSpPr>
          <p:cNvPr id="21" name="Shape 15"/>
          <p:cNvSpPr/>
          <p:nvPr/>
        </p:nvSpPr>
        <p:spPr>
          <a:xfrm>
            <a:off x="3913632" y="3703320"/>
            <a:ext cx="246888" cy="0"/>
          </a:xfrm>
          <a:prstGeom prst="line">
            <a:avLst/>
          </a:prstGeom>
          <a:noFill/>
          <a:ln w="25400">
            <a:solidFill>
              <a:srgbClr val="E83526"/>
            </a:solidFill>
            <a:prstDash val="solid"/>
            <a:headEnd type="none"/>
            <a:tailEnd type="none"/>
          </a:ln>
        </p:spPr>
      </p:sp>
      <p:sp>
        <p:nvSpPr>
          <p:cNvPr id="22" name="Shape 16"/>
          <p:cNvSpPr/>
          <p:nvPr/>
        </p:nvSpPr>
        <p:spPr>
          <a:xfrm>
            <a:off x="7470648" y="3703320"/>
            <a:ext cx="246888" cy="0"/>
          </a:xfrm>
          <a:prstGeom prst="line">
            <a:avLst/>
          </a:prstGeom>
          <a:noFill/>
          <a:ln w="25400">
            <a:solidFill>
              <a:srgbClr val="E83526"/>
            </a:solidFill>
            <a:prstDash val="solid"/>
            <a:headEnd type="none"/>
            <a:tailEnd type="none"/>
          </a:ln>
        </p:spPr>
      </p:sp>
      <p:sp>
        <p:nvSpPr>
          <p:cNvPr id="23" name="Text 17"/>
          <p:cNvSpPr/>
          <p:nvPr/>
        </p:nvSpPr>
        <p:spPr>
          <a:xfrm>
            <a:off x="658368" y="574243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0233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Un seul fil conducteur : votre projet de vie au Canada.</a:t>
            </a:r>
            <a:endParaRPr lang="en-US" sz="1950" dirty="0"/>
          </a:p>
        </p:txBody>
      </p:sp>
      <p:sp>
        <p:nvSpPr>
          <p:cNvPr id="24" name="Text 18"/>
          <p:cNvSpPr/>
          <p:nvPr/>
        </p:nvSpPr>
        <p:spPr>
          <a:xfrm>
            <a:off x="658368" y="6245352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8994A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 services exacts dépendent du forfait choisi, de la province et de votre admissibilité.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5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 Ir immig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274320"/>
            <a:ext cx="640080" cy="6949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75488"/>
            <a:ext cx="8641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spc="10" kern="0" dirty="0">
                <a:solidFill>
                  <a:srgbClr val="10233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VOTRE PARCOURS, DE L’IDÉE À L’INSTALLATION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658368" y="1188720"/>
            <a:ext cx="566928" cy="50292"/>
          </a:xfrm>
          <a:prstGeom prst="rect">
            <a:avLst/>
          </a:prstGeom>
          <a:solidFill>
            <a:srgbClr val="E83526"/>
          </a:solidFill>
          <a:ln w="12700">
            <a:solidFill>
              <a:srgbClr val="E83526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132588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5E6C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Une méthode simple à comprendre. Chaque étape prépare la suivante.</a:t>
            </a:r>
            <a:endParaRPr lang="en-US" sz="1480" dirty="0"/>
          </a:p>
        </p:txBody>
      </p:sp>
      <p:sp>
        <p:nvSpPr>
          <p:cNvPr id="6" name="Shape 3"/>
          <p:cNvSpPr/>
          <p:nvPr/>
        </p:nvSpPr>
        <p:spPr>
          <a:xfrm>
            <a:off x="1024128" y="2788920"/>
            <a:ext cx="9491472" cy="0"/>
          </a:xfrm>
          <a:prstGeom prst="line">
            <a:avLst/>
          </a:prstGeom>
          <a:noFill/>
          <a:ln w="50800">
            <a:solidFill>
              <a:srgbClr val="B9C9DB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804672" y="2468880"/>
            <a:ext cx="640080" cy="640080"/>
          </a:xfrm>
          <a:prstGeom prst="ellipse">
            <a:avLst/>
          </a:prstGeom>
          <a:solidFill>
            <a:srgbClr val="003C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25877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01</a:t>
            </a:r>
            <a:endParaRPr lang="en-US" sz="1580" dirty="0"/>
          </a:p>
        </p:txBody>
      </p:sp>
      <p:sp>
        <p:nvSpPr>
          <p:cNvPr id="9" name="Text 6"/>
          <p:cNvSpPr/>
          <p:nvPr/>
        </p:nvSpPr>
        <p:spPr>
          <a:xfrm>
            <a:off x="475488" y="333756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003C8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DIAGNOSTIC</a:t>
            </a:r>
            <a:endParaRPr lang="en-US" sz="1520" dirty="0"/>
          </a:p>
        </p:txBody>
      </p:sp>
      <p:sp>
        <p:nvSpPr>
          <p:cNvPr id="10" name="Text 7"/>
          <p:cNvSpPr/>
          <p:nvPr/>
        </p:nvSpPr>
        <p:spPr>
          <a:xfrm>
            <a:off x="347472" y="3840480"/>
            <a:ext cx="1554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5E6C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Comprendre votre profil, vos objectifs et vos contraintes.</a:t>
            </a:r>
            <a:endParaRPr lang="en-US" sz="1060" dirty="0"/>
          </a:p>
        </p:txBody>
      </p:sp>
      <p:sp>
        <p:nvSpPr>
          <p:cNvPr id="11" name="Shape 8"/>
          <p:cNvSpPr/>
          <p:nvPr/>
        </p:nvSpPr>
        <p:spPr>
          <a:xfrm>
            <a:off x="2651760" y="2468880"/>
            <a:ext cx="640080" cy="640080"/>
          </a:xfrm>
          <a:prstGeom prst="ellipse">
            <a:avLst/>
          </a:prstGeom>
          <a:solidFill>
            <a:srgbClr val="003C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51760" y="25877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02</a:t>
            </a:r>
            <a:endParaRPr lang="en-US" sz="1580" dirty="0"/>
          </a:p>
        </p:txBody>
      </p:sp>
      <p:sp>
        <p:nvSpPr>
          <p:cNvPr id="13" name="Text 10"/>
          <p:cNvSpPr/>
          <p:nvPr/>
        </p:nvSpPr>
        <p:spPr>
          <a:xfrm>
            <a:off x="2322576" y="333756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003C8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STRATÉGIE</a:t>
            </a:r>
            <a:endParaRPr lang="en-US" sz="1520" dirty="0"/>
          </a:p>
        </p:txBody>
      </p:sp>
      <p:sp>
        <p:nvSpPr>
          <p:cNvPr id="14" name="Text 11"/>
          <p:cNvSpPr/>
          <p:nvPr/>
        </p:nvSpPr>
        <p:spPr>
          <a:xfrm>
            <a:off x="2194560" y="3840480"/>
            <a:ext cx="1554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5E6C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Identifier les options réalistes et les priorités.</a:t>
            </a:r>
            <a:endParaRPr lang="en-US" sz="1060" dirty="0"/>
          </a:p>
        </p:txBody>
      </p:sp>
      <p:sp>
        <p:nvSpPr>
          <p:cNvPr id="15" name="Shape 12"/>
          <p:cNvSpPr/>
          <p:nvPr/>
        </p:nvSpPr>
        <p:spPr>
          <a:xfrm>
            <a:off x="4498848" y="2468880"/>
            <a:ext cx="640080" cy="640080"/>
          </a:xfrm>
          <a:prstGeom prst="ellipse">
            <a:avLst/>
          </a:prstGeom>
          <a:solidFill>
            <a:srgbClr val="003C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98848" y="25877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03</a:t>
            </a:r>
            <a:endParaRPr lang="en-US" sz="1580" dirty="0"/>
          </a:p>
        </p:txBody>
      </p:sp>
      <p:sp>
        <p:nvSpPr>
          <p:cNvPr id="17" name="Text 14"/>
          <p:cNvSpPr/>
          <p:nvPr/>
        </p:nvSpPr>
        <p:spPr>
          <a:xfrm>
            <a:off x="4169664" y="333756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003C8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PRÉPARATION</a:t>
            </a:r>
            <a:endParaRPr lang="en-US" sz="1520" dirty="0"/>
          </a:p>
        </p:txBody>
      </p:sp>
      <p:sp>
        <p:nvSpPr>
          <p:cNvPr id="18" name="Text 15"/>
          <p:cNvSpPr/>
          <p:nvPr/>
        </p:nvSpPr>
        <p:spPr>
          <a:xfrm>
            <a:off x="4041648" y="3840480"/>
            <a:ext cx="1554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5E6C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Organiser les documents, preuves et échéances.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6345936" y="2468880"/>
            <a:ext cx="640080" cy="640080"/>
          </a:xfrm>
          <a:prstGeom prst="ellipse">
            <a:avLst/>
          </a:prstGeom>
          <a:solidFill>
            <a:srgbClr val="003C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45936" y="25877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04</a:t>
            </a:r>
            <a:endParaRPr lang="en-US" sz="1580" dirty="0"/>
          </a:p>
        </p:txBody>
      </p:sp>
      <p:sp>
        <p:nvSpPr>
          <p:cNvPr id="21" name="Text 18"/>
          <p:cNvSpPr/>
          <p:nvPr/>
        </p:nvSpPr>
        <p:spPr>
          <a:xfrm>
            <a:off x="6016752" y="333756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003C8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DÉPÔT &amp; SUIVI</a:t>
            </a:r>
            <a:endParaRPr lang="en-US" sz="1520" dirty="0"/>
          </a:p>
        </p:txBody>
      </p:sp>
      <p:sp>
        <p:nvSpPr>
          <p:cNvPr id="22" name="Text 19"/>
          <p:cNvSpPr/>
          <p:nvPr/>
        </p:nvSpPr>
        <p:spPr>
          <a:xfrm>
            <a:off x="5888736" y="3840480"/>
            <a:ext cx="1554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5E6C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Coordonner le dossier et répondre aux demandes.</a:t>
            </a:r>
            <a:endParaRPr lang="en-US" sz="1060" dirty="0"/>
          </a:p>
        </p:txBody>
      </p:sp>
      <p:sp>
        <p:nvSpPr>
          <p:cNvPr id="23" name="Shape 20"/>
          <p:cNvSpPr/>
          <p:nvPr/>
        </p:nvSpPr>
        <p:spPr>
          <a:xfrm>
            <a:off x="8193024" y="2468880"/>
            <a:ext cx="640080" cy="640080"/>
          </a:xfrm>
          <a:prstGeom prst="ellipse">
            <a:avLst/>
          </a:prstGeom>
          <a:solidFill>
            <a:srgbClr val="003C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93024" y="25877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05</a:t>
            </a:r>
            <a:endParaRPr lang="en-US" sz="1580" dirty="0"/>
          </a:p>
        </p:txBody>
      </p:sp>
      <p:sp>
        <p:nvSpPr>
          <p:cNvPr id="25" name="Text 22"/>
          <p:cNvSpPr/>
          <p:nvPr/>
        </p:nvSpPr>
        <p:spPr>
          <a:xfrm>
            <a:off x="7863840" y="333756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003C8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DÉPART</a:t>
            </a:r>
            <a:endParaRPr lang="en-US" sz="1520" dirty="0"/>
          </a:p>
        </p:txBody>
      </p:sp>
      <p:sp>
        <p:nvSpPr>
          <p:cNvPr id="26" name="Text 23"/>
          <p:cNvSpPr/>
          <p:nvPr/>
        </p:nvSpPr>
        <p:spPr>
          <a:xfrm>
            <a:off x="7735824" y="3840480"/>
            <a:ext cx="1554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5E6C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Préparer carrière, logement et arrivée.</a:t>
            </a:r>
            <a:endParaRPr lang="en-US" sz="1060" dirty="0"/>
          </a:p>
        </p:txBody>
      </p:sp>
      <p:sp>
        <p:nvSpPr>
          <p:cNvPr id="27" name="Shape 24"/>
          <p:cNvSpPr/>
          <p:nvPr/>
        </p:nvSpPr>
        <p:spPr>
          <a:xfrm>
            <a:off x="10040112" y="2468880"/>
            <a:ext cx="640080" cy="640080"/>
          </a:xfrm>
          <a:prstGeom prst="ellipse">
            <a:avLst/>
          </a:prstGeom>
          <a:solidFill>
            <a:srgbClr val="E8352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040112" y="25877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06</a:t>
            </a:r>
            <a:endParaRPr lang="en-US" sz="1580" dirty="0"/>
          </a:p>
        </p:txBody>
      </p:sp>
      <p:sp>
        <p:nvSpPr>
          <p:cNvPr id="29" name="Text 26"/>
          <p:cNvSpPr/>
          <p:nvPr/>
        </p:nvSpPr>
        <p:spPr>
          <a:xfrm>
            <a:off x="9710928" y="333756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003C8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INTÉGRATION</a:t>
            </a:r>
            <a:endParaRPr lang="en-US" sz="1520" dirty="0"/>
          </a:p>
        </p:txBody>
      </p:sp>
      <p:sp>
        <p:nvSpPr>
          <p:cNvPr id="30" name="Text 27"/>
          <p:cNvSpPr/>
          <p:nvPr/>
        </p:nvSpPr>
        <p:spPr>
          <a:xfrm>
            <a:off x="9582912" y="3840480"/>
            <a:ext cx="1554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5E6C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Soutenir l’installation et les prochaines étapes.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658368" y="5614416"/>
            <a:ext cx="10863072" cy="658368"/>
          </a:xfrm>
          <a:prstGeom prst="roundRect">
            <a:avLst>
              <a:gd name="adj" fmla="val 20833"/>
            </a:avLst>
          </a:prstGeom>
          <a:solidFill>
            <a:srgbClr val="EAF2FB"/>
          </a:solidFill>
          <a:ln w="12700">
            <a:solidFill>
              <a:srgbClr val="EAF2FB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68680" y="575157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3C8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Une seule question guide tout le parcours : quelle est la prochaine action utile pour votre projet ?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658368" y="6492240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7A87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ir-immigration.com   •   WhatsApp 819 919 8683</a:t>
            </a:r>
            <a:endParaRPr lang="en-US" sz="8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5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r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274320"/>
            <a:ext cx="640080" cy="6949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75488"/>
            <a:ext cx="8458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spc="10" kern="0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QUELLE PORTE CORRESPOND À VOTRE PROJET ?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658368" y="1188720"/>
            <a:ext cx="566928" cy="50292"/>
          </a:xfrm>
          <a:prstGeom prst="rect">
            <a:avLst/>
          </a:prstGeom>
          <a:solidFill>
            <a:srgbClr val="E83526"/>
          </a:solidFill>
          <a:ln w="12700">
            <a:solidFill>
              <a:srgbClr val="E83526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130759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90" dirty="0">
                <a:solidFill>
                  <a:srgbClr val="C4D8E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Nous partons de votre objectif. Ensuite seulement, nous parlons de programme.</a:t>
            </a:r>
            <a:endParaRPr lang="en-US" sz="1490" dirty="0"/>
          </a:p>
        </p:txBody>
      </p:sp>
      <p:pic>
        <p:nvPicPr>
          <p:cNvPr id="6" name="Image 1" descr="/mnt/data/a_wide_cinematic_photorealistic_outdoor_scene_a_batch_1.jpg">    </p:cNvPr>
          <p:cNvPicPr>
            <a:picLocks noChangeAspect="1"/>
          </p:cNvPicPr>
          <p:nvPr/>
        </p:nvPicPr>
        <p:blipFill>
          <a:blip r:embed="rId2"/>
          <a:srcRect l="0" r="0" t="2162" b="2162"/>
          <a:stretch/>
        </p:blipFill>
        <p:spPr>
          <a:xfrm>
            <a:off x="658368" y="1965960"/>
            <a:ext cx="3447288" cy="185623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58368" y="3008376"/>
            <a:ext cx="3447288" cy="813816"/>
          </a:xfrm>
          <a:prstGeom prst="rect">
            <a:avLst/>
          </a:prstGeom>
          <a:solidFill>
            <a:srgbClr val="071A33">
              <a:alpha val="85000"/>
            </a:srgbClr>
          </a:solidFill>
          <a:ln w="12700">
            <a:solidFill>
              <a:srgbClr val="071A33">
                <a:alpha val="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22960" y="3063240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RÉSIDENCE PERMANENTE</a:t>
            </a:r>
            <a:endParaRPr lang="en-US" sz="1520" dirty="0"/>
          </a:p>
        </p:txBody>
      </p:sp>
      <p:sp>
        <p:nvSpPr>
          <p:cNvPr id="9" name="Text 5"/>
          <p:cNvSpPr/>
          <p:nvPr/>
        </p:nvSpPr>
        <p:spPr>
          <a:xfrm>
            <a:off x="822960" y="336499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E2EC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Pour les profils admissibles qui construisent un projet durable.</a:t>
            </a:r>
            <a:endParaRPr lang="en-US" sz="990" dirty="0"/>
          </a:p>
        </p:txBody>
      </p:sp>
      <p:pic>
        <p:nvPicPr>
          <p:cNvPr id="10" name="Image 2" descr="/mnt/data/a_crisp_high_resolution_realistic_autumn_univers_batch_3.jpg">    </p:cNvPr>
          <p:cNvPicPr>
            <a:picLocks noChangeAspect="1"/>
          </p:cNvPicPr>
          <p:nvPr/>
        </p:nvPicPr>
        <p:blipFill>
          <a:blip r:embed="rId3"/>
          <a:srcRect l="0" r="0" t="2162" b="2162"/>
          <a:stretch/>
        </p:blipFill>
        <p:spPr>
          <a:xfrm>
            <a:off x="4370832" y="1965960"/>
            <a:ext cx="3447288" cy="1856232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370832" y="3008376"/>
            <a:ext cx="3447288" cy="813816"/>
          </a:xfrm>
          <a:prstGeom prst="rect">
            <a:avLst/>
          </a:prstGeom>
          <a:solidFill>
            <a:srgbClr val="071A33">
              <a:alpha val="85000"/>
            </a:srgbClr>
          </a:solidFill>
          <a:ln w="12700">
            <a:solidFill>
              <a:srgbClr val="071A33">
                <a:alpha val="0"/>
              </a:srgbClr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4535424" y="3063240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ÉTUDES</a:t>
            </a:r>
            <a:endParaRPr lang="en-US" sz="1520" dirty="0"/>
          </a:p>
        </p:txBody>
      </p:sp>
      <p:sp>
        <p:nvSpPr>
          <p:cNvPr id="13" name="Text 8"/>
          <p:cNvSpPr/>
          <p:nvPr/>
        </p:nvSpPr>
        <p:spPr>
          <a:xfrm>
            <a:off x="4535424" y="336499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E2EC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Choisir un programme cohérent avec votre parcours et votre objectif.</a:t>
            </a:r>
            <a:endParaRPr lang="en-US" sz="990" dirty="0"/>
          </a:p>
        </p:txBody>
      </p:sp>
      <p:pic>
        <p:nvPicPr>
          <p:cNvPr id="14" name="Image 3" descr="/mnt/data/a_wide_realistic_industrial_manufacturing_factory_batch_4.jpg">    </p:cNvPr>
          <p:cNvPicPr>
            <a:picLocks noChangeAspect="1"/>
          </p:cNvPicPr>
          <p:nvPr/>
        </p:nvPicPr>
        <p:blipFill>
          <a:blip r:embed="rId4"/>
          <a:srcRect l="0" r="0" t="2162" b="2162"/>
          <a:stretch/>
        </p:blipFill>
        <p:spPr>
          <a:xfrm>
            <a:off x="8083296" y="1965960"/>
            <a:ext cx="3447288" cy="1856232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8083296" y="3008376"/>
            <a:ext cx="3447288" cy="813816"/>
          </a:xfrm>
          <a:prstGeom prst="rect">
            <a:avLst/>
          </a:prstGeom>
          <a:solidFill>
            <a:srgbClr val="071A33">
              <a:alpha val="85000"/>
            </a:srgbClr>
          </a:solidFill>
          <a:ln w="12700">
            <a:solidFill>
              <a:srgbClr val="071A33">
                <a:alpha val="0"/>
              </a:srgbClr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8247888" y="3063240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TRAVAIL</a:t>
            </a:r>
            <a:endParaRPr lang="en-US" sz="1520" dirty="0"/>
          </a:p>
        </p:txBody>
      </p:sp>
      <p:sp>
        <p:nvSpPr>
          <p:cNvPr id="17" name="Text 11"/>
          <p:cNvSpPr/>
          <p:nvPr/>
        </p:nvSpPr>
        <p:spPr>
          <a:xfrm>
            <a:off x="8247888" y="336499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E2EC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Explorer les options possibles selon votre métier et votre situation.</a:t>
            </a:r>
            <a:endParaRPr lang="en-US" sz="990" dirty="0"/>
          </a:p>
        </p:txBody>
      </p:sp>
      <p:pic>
        <p:nvPicPr>
          <p:cNvPr id="18" name="Image 4" descr="/mnt/data/a_wide_realistic_photo_in_an_airport_terminal_sho_batch_6.jpg">    </p:cNvPr>
          <p:cNvPicPr>
            <a:picLocks noChangeAspect="1"/>
          </p:cNvPicPr>
          <p:nvPr/>
        </p:nvPicPr>
        <p:blipFill>
          <a:blip r:embed="rId5"/>
          <a:srcRect l="0" r="0" t="2162" b="2162"/>
          <a:stretch/>
        </p:blipFill>
        <p:spPr>
          <a:xfrm>
            <a:off x="2514600" y="4206240"/>
            <a:ext cx="3447288" cy="1856232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2514600" y="5248656"/>
            <a:ext cx="3447288" cy="813816"/>
          </a:xfrm>
          <a:prstGeom prst="rect">
            <a:avLst/>
          </a:prstGeom>
          <a:solidFill>
            <a:srgbClr val="071A33">
              <a:alpha val="85000"/>
            </a:srgbClr>
          </a:solidFill>
          <a:ln w="12700">
            <a:solidFill>
              <a:srgbClr val="071A33">
                <a:alpha val="0"/>
              </a:srgbClr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2679192" y="5303520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VISITE &amp; FAMILLE</a:t>
            </a:r>
            <a:endParaRPr lang="en-US" sz="1520" dirty="0"/>
          </a:p>
        </p:txBody>
      </p:sp>
      <p:sp>
        <p:nvSpPr>
          <p:cNvPr id="21" name="Text 14"/>
          <p:cNvSpPr/>
          <p:nvPr/>
        </p:nvSpPr>
        <p:spPr>
          <a:xfrm>
            <a:off x="2679192" y="560527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E2EC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Préparer un séjour, une visite ou un projet familial avec clarté.</a:t>
            </a:r>
            <a:endParaRPr lang="en-US" sz="990" dirty="0"/>
          </a:p>
        </p:txBody>
      </p:sp>
      <p:pic>
        <p:nvPicPr>
          <p:cNvPr id="22" name="Image 5" descr="/mnt/data/wide_professional_corporate_meeting_room_scene_wi_batch_5.jpg">    </p:cNvPr>
          <p:cNvPicPr>
            <a:picLocks noChangeAspect="1"/>
          </p:cNvPicPr>
          <p:nvPr/>
        </p:nvPicPr>
        <p:blipFill>
          <a:blip r:embed="rId6"/>
          <a:srcRect l="0" r="0" t="2162" b="2162"/>
          <a:stretch/>
        </p:blipFill>
        <p:spPr>
          <a:xfrm>
            <a:off x="6227064" y="4206240"/>
            <a:ext cx="3447288" cy="185623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227064" y="5248656"/>
            <a:ext cx="3447288" cy="813816"/>
          </a:xfrm>
          <a:prstGeom prst="rect">
            <a:avLst/>
          </a:prstGeom>
          <a:solidFill>
            <a:srgbClr val="071A33">
              <a:alpha val="85000"/>
            </a:srgbClr>
          </a:solidFill>
          <a:ln w="12700">
            <a:solidFill>
              <a:srgbClr val="071A33">
                <a:alpha val="0"/>
              </a:srgbClr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6391656" y="5303520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AFFAIRES</a:t>
            </a:r>
            <a:endParaRPr lang="en-US" sz="1520" dirty="0"/>
          </a:p>
        </p:txBody>
      </p:sp>
      <p:sp>
        <p:nvSpPr>
          <p:cNvPr id="25" name="Text 17"/>
          <p:cNvSpPr/>
          <p:nvPr/>
        </p:nvSpPr>
        <p:spPr>
          <a:xfrm>
            <a:off x="6391656" y="560527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E2EC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Organiser un projet d’affaires, des rencontres et la logistique du séjour.</a:t>
            </a:r>
            <a:endParaRPr lang="en-US" sz="990" dirty="0"/>
          </a:p>
        </p:txBody>
      </p:sp>
      <p:sp>
        <p:nvSpPr>
          <p:cNvPr id="26" name="Text 18"/>
          <p:cNvSpPr/>
          <p:nvPr/>
        </p:nvSpPr>
        <p:spPr>
          <a:xfrm>
            <a:off x="658368" y="6364224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ABC3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Chaque voie dépend de votre profil, de votre admissibilité et des règles en vigueur.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5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realistic_industrial_manufacturing_factory_batch_4.jpg">    </p:cNvPr>
          <p:cNvPicPr>
            <a:picLocks noChangeAspect="1"/>
          </p:cNvPicPr>
          <p:nvPr/>
        </p:nvPicPr>
        <p:blipFill>
          <a:blip r:embed="rId1"/>
          <a:srcRect l="4000" r="49475" t="0" b="0"/>
          <a:stretch/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76672" y="0"/>
            <a:ext cx="41148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/mnt/data/logo Ir immigr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74320"/>
            <a:ext cx="640080" cy="6949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80760" y="1078992"/>
            <a:ext cx="523036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0233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UN STATUT N’EST PAS</a:t>
            </a:r>
            <a:endParaRPr lang="en-US" sz="2750" dirty="0"/>
          </a:p>
          <a:p>
            <a:pPr indent="0" marL="0">
              <a:buNone/>
            </a:pPr>
            <a:r>
              <a:rPr lang="en-US" sz="2750" b="1" dirty="0">
                <a:solidFill>
                  <a:srgbClr val="10233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ENCORE UNE INTÉGRATION</a:t>
            </a:r>
            <a:endParaRPr lang="en-US" sz="2750" dirty="0"/>
          </a:p>
        </p:txBody>
      </p:sp>
      <p:sp>
        <p:nvSpPr>
          <p:cNvPr id="6" name="Text 2"/>
          <p:cNvSpPr/>
          <p:nvPr/>
        </p:nvSpPr>
        <p:spPr>
          <a:xfrm>
            <a:off x="6080760" y="2258568"/>
            <a:ext cx="4754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003C8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Nous préparons aussi l’après.</a:t>
            </a:r>
            <a:endParaRPr lang="en-US" sz="2050" dirty="0"/>
          </a:p>
        </p:txBody>
      </p:sp>
      <p:sp>
        <p:nvSpPr>
          <p:cNvPr id="7" name="Shape 3"/>
          <p:cNvSpPr/>
          <p:nvPr/>
        </p:nvSpPr>
        <p:spPr>
          <a:xfrm>
            <a:off x="6126480" y="2971800"/>
            <a:ext cx="82296" cy="82296"/>
          </a:xfrm>
          <a:prstGeom prst="ellipse">
            <a:avLst/>
          </a:prstGeom>
          <a:solidFill>
            <a:srgbClr val="E83526"/>
          </a:solidFill>
          <a:ln w="12700">
            <a:solidFill>
              <a:srgbClr val="E83526">
                <a:alpha val="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300216" y="2862072"/>
            <a:ext cx="4398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02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Projet professionnel et ciblage métier</a:t>
            </a:r>
            <a:endParaRPr lang="en-US" sz="1380" dirty="0"/>
          </a:p>
        </p:txBody>
      </p:sp>
      <p:sp>
        <p:nvSpPr>
          <p:cNvPr id="9" name="Shape 5"/>
          <p:cNvSpPr/>
          <p:nvPr/>
        </p:nvSpPr>
        <p:spPr>
          <a:xfrm>
            <a:off x="6126480" y="3502152"/>
            <a:ext cx="82296" cy="82296"/>
          </a:xfrm>
          <a:prstGeom prst="ellipse">
            <a:avLst/>
          </a:prstGeom>
          <a:solidFill>
            <a:srgbClr val="E83526"/>
          </a:solidFill>
          <a:ln w="12700">
            <a:solidFill>
              <a:srgbClr val="E83526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300216" y="3392424"/>
            <a:ext cx="4398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02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CV, entrevue et positionnement aux standards canadiens</a:t>
            </a:r>
            <a:endParaRPr lang="en-US" sz="1380" dirty="0"/>
          </a:p>
        </p:txBody>
      </p:sp>
      <p:sp>
        <p:nvSpPr>
          <p:cNvPr id="11" name="Shape 7"/>
          <p:cNvSpPr/>
          <p:nvPr/>
        </p:nvSpPr>
        <p:spPr>
          <a:xfrm>
            <a:off x="6126480" y="4032504"/>
            <a:ext cx="82296" cy="82296"/>
          </a:xfrm>
          <a:prstGeom prst="ellipse">
            <a:avLst/>
          </a:prstGeom>
          <a:solidFill>
            <a:srgbClr val="E83526"/>
          </a:solidFill>
          <a:ln w="12700">
            <a:solidFill>
              <a:srgbClr val="E83526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00216" y="3922776"/>
            <a:ext cx="4398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02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Orientation sur reconnaissance, équivalences et formations utiles</a:t>
            </a:r>
            <a:endParaRPr lang="en-US" sz="1380" dirty="0"/>
          </a:p>
        </p:txBody>
      </p:sp>
      <p:sp>
        <p:nvSpPr>
          <p:cNvPr id="13" name="Shape 9"/>
          <p:cNvSpPr/>
          <p:nvPr/>
        </p:nvSpPr>
        <p:spPr>
          <a:xfrm>
            <a:off x="6126480" y="4562856"/>
            <a:ext cx="82296" cy="82296"/>
          </a:xfrm>
          <a:prstGeom prst="ellipse">
            <a:avLst/>
          </a:prstGeom>
          <a:solidFill>
            <a:srgbClr val="E83526"/>
          </a:solidFill>
          <a:ln w="12700">
            <a:solidFill>
              <a:srgbClr val="E83526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300216" y="4453128"/>
            <a:ext cx="4398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02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Réseau, employeurs et pistes de développement</a:t>
            </a:r>
            <a:endParaRPr lang="en-US" sz="1380" dirty="0"/>
          </a:p>
        </p:txBody>
      </p:sp>
      <p:sp>
        <p:nvSpPr>
          <p:cNvPr id="15" name="Shape 11"/>
          <p:cNvSpPr/>
          <p:nvPr/>
        </p:nvSpPr>
        <p:spPr>
          <a:xfrm>
            <a:off x="6080760" y="5230368"/>
            <a:ext cx="5239512" cy="868680"/>
          </a:xfrm>
          <a:prstGeom prst="roundRect">
            <a:avLst>
              <a:gd name="adj" fmla="val 16842"/>
            </a:avLst>
          </a:prstGeom>
          <a:solidFill>
            <a:srgbClr val="EAF2FB"/>
          </a:solidFill>
          <a:ln w="12700">
            <a:solidFill>
              <a:srgbClr val="EAF2FB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355080" y="5431536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03C8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Objectif : arriver avec un plan professionnel, pas recommencer de zéro.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658368" y="6492240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7A87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ir-immigration.com   •   WhatsApp 819 919 8683</a:t>
            </a:r>
            <a:endParaRPr lang="en-US" sz="8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5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realistic_photo_in_an_airport_terminal_sho_batch_6.jpg">    </p:cNvPr>
          <p:cNvPicPr>
            <a:picLocks noChangeAspect="1"/>
          </p:cNvPicPr>
          <p:nvPr/>
        </p:nvPicPr>
        <p:blipFill>
          <a:blip r:embed="rId1"/>
          <a:srcRect l="12000" r="41603" t="0" b="0"/>
          <a:stretch/>
        </p:blipFill>
        <p:spPr>
          <a:xfrm>
            <a:off x="6537960" y="0"/>
            <a:ext cx="565373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63640" y="0"/>
            <a:ext cx="502920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pic>
        <p:nvPicPr>
          <p:cNvPr id="4" name="Image 1" descr="/mnt/data/logo Ir immigr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148" y="329184"/>
            <a:ext cx="640080" cy="6949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8368" y="1115568"/>
            <a:ext cx="51389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0233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VOTRE ARRIVÉE PEUT ÊTRE</a:t>
            </a:r>
            <a:endParaRPr lang="en-US" sz="2750" dirty="0"/>
          </a:p>
          <a:p>
            <a:pPr indent="0" marL="0">
              <a:buNone/>
            </a:pPr>
            <a:r>
              <a:rPr lang="en-US" sz="2750" b="1" dirty="0">
                <a:solidFill>
                  <a:srgbClr val="10233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DÉJÀ ORGANISÉE</a:t>
            </a:r>
            <a:endParaRPr lang="en-US" sz="2750" dirty="0"/>
          </a:p>
        </p:txBody>
      </p:sp>
      <p:sp>
        <p:nvSpPr>
          <p:cNvPr id="6" name="Text 2"/>
          <p:cNvSpPr/>
          <p:nvPr/>
        </p:nvSpPr>
        <p:spPr>
          <a:xfrm>
            <a:off x="658368" y="224028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60" dirty="0">
                <a:solidFill>
                  <a:srgbClr val="5E6C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Selon le forfait choisi, nous pouvons préparer une grande partie de votre installation avant même votre départ.</a:t>
            </a:r>
            <a:endParaRPr lang="en-US" sz="146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4944" y="3191256"/>
            <a:ext cx="246888" cy="2468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78992" y="317296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90" b="1" dirty="0">
                <a:solidFill>
                  <a:srgbClr val="102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Accueil à l’aéroport</a:t>
            </a:r>
            <a:endParaRPr lang="en-US" sz="129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4944" y="3630168"/>
            <a:ext cx="246888" cy="24688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78992" y="361188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90" b="1" dirty="0">
                <a:solidFill>
                  <a:srgbClr val="102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Recherche et inspection de logement</a:t>
            </a:r>
            <a:endParaRPr lang="en-US" sz="129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4944" y="4069080"/>
            <a:ext cx="246888" cy="24688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78992" y="405079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90" b="1" dirty="0">
                <a:solidFill>
                  <a:srgbClr val="102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Clés et logement prêt</a:t>
            </a:r>
            <a:endParaRPr lang="en-US" sz="129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4944" y="4507992"/>
            <a:ext cx="246888" cy="24688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078992" y="448970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90" dirty="0">
                <a:solidFill>
                  <a:srgbClr val="102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SIM, premières courses et abonnements</a:t>
            </a:r>
            <a:endParaRPr lang="en-US" sz="129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4944" y="4946904"/>
            <a:ext cx="246888" cy="246888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078992" y="492861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90" dirty="0">
                <a:solidFill>
                  <a:srgbClr val="102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Démarches essentielles sur place</a:t>
            </a:r>
            <a:endParaRPr lang="en-US" sz="129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94944" y="5385816"/>
            <a:ext cx="246888" cy="246888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1078992" y="536752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90" dirty="0">
                <a:solidFill>
                  <a:srgbClr val="102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Support et orientation après l’arrivée</a:t>
            </a:r>
            <a:endParaRPr lang="en-US" sz="1290" dirty="0"/>
          </a:p>
        </p:txBody>
      </p:sp>
      <p:sp>
        <p:nvSpPr>
          <p:cNvPr id="19" name="Text 9"/>
          <p:cNvSpPr/>
          <p:nvPr/>
        </p:nvSpPr>
        <p:spPr>
          <a:xfrm>
            <a:off x="658368" y="5998464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8A95A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 démarches varient selon la province, le statut et la situation du client.</a:t>
            </a:r>
            <a:endParaRPr lang="en-US" sz="870" dirty="0"/>
          </a:p>
        </p:txBody>
      </p:sp>
      <p:sp>
        <p:nvSpPr>
          <p:cNvPr id="20" name="Text 10"/>
          <p:cNvSpPr/>
          <p:nvPr/>
        </p:nvSpPr>
        <p:spPr>
          <a:xfrm>
            <a:off x="658368" y="6492240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7A87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ir-immigration.com   •   WhatsApp 819 919 8683</a:t>
            </a:r>
            <a:endParaRPr lang="en-US" sz="8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5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ozy_warm_indoor_living_room_scene_with_a_famil_batch_7.jpg">    </p:cNvPr>
          <p:cNvPicPr>
            <a:picLocks noChangeAspect="1"/>
          </p:cNvPicPr>
          <p:nvPr/>
        </p:nvPicPr>
        <p:blipFill>
          <a:blip r:embed="rId1"/>
          <a:srcRect l="0" r="-5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983480" cy="6858000"/>
          </a:xfrm>
          <a:prstGeom prst="rect">
            <a:avLst/>
          </a:prstGeom>
          <a:solidFill>
            <a:srgbClr val="071A33">
              <a:alpha val="92000"/>
            </a:srgbClr>
          </a:solidFill>
          <a:ln w="12700">
            <a:solidFill>
              <a:srgbClr val="071A33">
                <a:alpha val="0"/>
              </a:srgbClr>
            </a:solidFill>
            <a:prstDash val="solid"/>
          </a:ln>
        </p:spPr>
      </p:sp>
      <p:pic>
        <p:nvPicPr>
          <p:cNvPr id="4" name="Image 1" descr="/mnt/data/ir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320040"/>
            <a:ext cx="640080" cy="6949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8368" y="1325880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IMAGINEZ VOS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90 PREMIERS JOURS</a:t>
            </a:r>
            <a:endParaRPr lang="en-US" sz="2900" dirty="0"/>
          </a:p>
        </p:txBody>
      </p:sp>
      <p:sp>
        <p:nvSpPr>
          <p:cNvPr id="6" name="Text 2"/>
          <p:cNvSpPr/>
          <p:nvPr/>
        </p:nvSpPr>
        <p:spPr>
          <a:xfrm>
            <a:off x="658368" y="2505456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D5E5F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Moins d’improvisation. Plus de repères dès le départ.</a:t>
            </a:r>
            <a:endParaRPr lang="en-US" sz="1750" dirty="0"/>
          </a:p>
        </p:txBody>
      </p:sp>
      <p:sp>
        <p:nvSpPr>
          <p:cNvPr id="7" name="Shape 3"/>
          <p:cNvSpPr/>
          <p:nvPr/>
        </p:nvSpPr>
        <p:spPr>
          <a:xfrm>
            <a:off x="658368" y="3246120"/>
            <a:ext cx="420624" cy="420624"/>
          </a:xfrm>
          <a:prstGeom prst="ellipse">
            <a:avLst/>
          </a:prstGeom>
          <a:solidFill>
            <a:srgbClr val="E83526"/>
          </a:solidFill>
          <a:ln w="12700">
            <a:solidFill>
              <a:srgbClr val="E83526">
                <a:alpha val="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58368" y="3250692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1261872" y="32278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AVANT LE DÉPART</a:t>
            </a:r>
            <a:endParaRPr lang="en-US" sz="1580" dirty="0"/>
          </a:p>
        </p:txBody>
      </p:sp>
      <p:sp>
        <p:nvSpPr>
          <p:cNvPr id="10" name="Text 6"/>
          <p:cNvSpPr/>
          <p:nvPr/>
        </p:nvSpPr>
        <p:spPr>
          <a:xfrm>
            <a:off x="1261872" y="3557016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4ECF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Documents, logement, préparation carrière et plan d’arrivée.</a:t>
            </a:r>
            <a:endParaRPr lang="en-US" sz="1120" dirty="0"/>
          </a:p>
        </p:txBody>
      </p:sp>
      <p:sp>
        <p:nvSpPr>
          <p:cNvPr id="11" name="Shape 7"/>
          <p:cNvSpPr/>
          <p:nvPr/>
        </p:nvSpPr>
        <p:spPr>
          <a:xfrm>
            <a:off x="658368" y="4114800"/>
            <a:ext cx="420624" cy="420624"/>
          </a:xfrm>
          <a:prstGeom prst="ellipse">
            <a:avLst/>
          </a:prstGeom>
          <a:solidFill>
            <a:srgbClr val="E83526"/>
          </a:solidFill>
          <a:ln w="12700">
            <a:solidFill>
              <a:srgbClr val="E83526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58368" y="4119372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261872" y="4096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SEMAINE 1</a:t>
            </a:r>
            <a:endParaRPr lang="en-US" sz="1580" dirty="0"/>
          </a:p>
        </p:txBody>
      </p:sp>
      <p:sp>
        <p:nvSpPr>
          <p:cNvPr id="14" name="Text 10"/>
          <p:cNvSpPr/>
          <p:nvPr/>
        </p:nvSpPr>
        <p:spPr>
          <a:xfrm>
            <a:off x="1261872" y="4425696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4ECF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Accueil, clés, démarches prioritaires, repères essentiels.</a:t>
            </a:r>
            <a:endParaRPr lang="en-US" sz="1120" dirty="0"/>
          </a:p>
        </p:txBody>
      </p:sp>
      <p:sp>
        <p:nvSpPr>
          <p:cNvPr id="15" name="Shape 11"/>
          <p:cNvSpPr/>
          <p:nvPr/>
        </p:nvSpPr>
        <p:spPr>
          <a:xfrm>
            <a:off x="658368" y="4983480"/>
            <a:ext cx="420624" cy="420624"/>
          </a:xfrm>
          <a:prstGeom prst="ellipse">
            <a:avLst/>
          </a:prstGeom>
          <a:solidFill>
            <a:srgbClr val="E83526"/>
          </a:solidFill>
          <a:ln w="12700">
            <a:solidFill>
              <a:srgbClr val="E83526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8368" y="4988052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3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1261872" y="49651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MOIS 1 À 3</a:t>
            </a:r>
            <a:endParaRPr lang="en-US" sz="1580" dirty="0"/>
          </a:p>
        </p:txBody>
      </p:sp>
      <p:sp>
        <p:nvSpPr>
          <p:cNvPr id="18" name="Text 14"/>
          <p:cNvSpPr/>
          <p:nvPr/>
        </p:nvSpPr>
        <p:spPr>
          <a:xfrm>
            <a:off x="1261872" y="5294376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4ECF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Installation, réseau, carrière, suivi et ajustements.</a:t>
            </a:r>
            <a:endParaRPr lang="en-US" sz="1120" dirty="0"/>
          </a:p>
        </p:txBody>
      </p:sp>
      <p:sp>
        <p:nvSpPr>
          <p:cNvPr id="19" name="Text 15"/>
          <p:cNvSpPr/>
          <p:nvPr/>
        </p:nvSpPr>
        <p:spPr>
          <a:xfrm>
            <a:off x="658368" y="6309360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B9CCE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Selon les services retenus et votre situation.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5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 Ir immig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274320"/>
            <a:ext cx="640080" cy="6949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7548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spc="10" kern="0" dirty="0">
                <a:solidFill>
                  <a:srgbClr val="10233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CE QUE NOUS PROMETTONS. ET CE QUE NOUS NE PROMETTONS PAS.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658368" y="1188720"/>
            <a:ext cx="566928" cy="50292"/>
          </a:xfrm>
          <a:prstGeom prst="rect">
            <a:avLst/>
          </a:prstGeom>
          <a:solidFill>
            <a:srgbClr val="E83526"/>
          </a:solidFill>
          <a:ln w="12700">
            <a:solidFill>
              <a:srgbClr val="E83526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13075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5E6C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 confiance commence par des attentes claires.</a:t>
            </a:r>
            <a:endParaRPr lang="en-US" sz="1480" dirty="0"/>
          </a:p>
        </p:txBody>
      </p:sp>
      <p:sp>
        <p:nvSpPr>
          <p:cNvPr id="6" name="Shape 3"/>
          <p:cNvSpPr/>
          <p:nvPr/>
        </p:nvSpPr>
        <p:spPr>
          <a:xfrm>
            <a:off x="658368" y="1901952"/>
            <a:ext cx="5230368" cy="3154680"/>
          </a:xfrm>
          <a:prstGeom prst="roundRect">
            <a:avLst>
              <a:gd name="adj" fmla="val 5217"/>
            </a:avLst>
          </a:prstGeom>
          <a:solidFill>
            <a:srgbClr val="EEF8F2"/>
          </a:solidFill>
          <a:ln w="12700">
            <a:solidFill>
              <a:srgbClr val="EEF8F2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91072" y="1901952"/>
            <a:ext cx="5230368" cy="3154680"/>
          </a:xfrm>
          <a:prstGeom prst="roundRect">
            <a:avLst>
              <a:gd name="adj" fmla="val 5217"/>
            </a:avLst>
          </a:prstGeom>
          <a:solidFill>
            <a:srgbClr val="FFF1EF"/>
          </a:solidFill>
          <a:ln w="12700">
            <a:solidFill>
              <a:srgbClr val="FFF1EF">
                <a:alpha val="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0976" y="2194560"/>
            <a:ext cx="411480" cy="41148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83680" y="2194560"/>
            <a:ext cx="411480" cy="411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54480" y="2157984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80" b="1" dirty="0">
                <a:solidFill>
                  <a:srgbClr val="15734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NOUS PROMETTONS</a:t>
            </a:r>
            <a:endParaRPr lang="en-US" sz="1880" dirty="0"/>
          </a:p>
        </p:txBody>
      </p:sp>
      <p:sp>
        <p:nvSpPr>
          <p:cNvPr id="11" name="Text 6"/>
          <p:cNvSpPr/>
          <p:nvPr/>
        </p:nvSpPr>
        <p:spPr>
          <a:xfrm>
            <a:off x="7187184" y="215798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80" b="1" dirty="0">
                <a:solidFill>
                  <a:srgbClr val="E8352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NOUS NE PROMETTONS PAS</a:t>
            </a:r>
            <a:endParaRPr lang="en-US" sz="1880" dirty="0"/>
          </a:p>
        </p:txBody>
      </p:sp>
      <p:sp>
        <p:nvSpPr>
          <p:cNvPr id="12" name="Shape 7"/>
          <p:cNvSpPr/>
          <p:nvPr/>
        </p:nvSpPr>
        <p:spPr>
          <a:xfrm>
            <a:off x="987552" y="2898648"/>
            <a:ext cx="82296" cy="82296"/>
          </a:xfrm>
          <a:prstGeom prst="ellipse">
            <a:avLst/>
          </a:prstGeom>
          <a:solidFill>
            <a:srgbClr val="157347"/>
          </a:solidFill>
          <a:ln w="12700">
            <a:solidFill>
              <a:srgbClr val="157347">
                <a:alpha val="0"/>
              </a:srgbClr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161288" y="2788920"/>
            <a:ext cx="4215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Une lecture honnête de votre situation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987552" y="3401568"/>
            <a:ext cx="82296" cy="82296"/>
          </a:xfrm>
          <a:prstGeom prst="ellipse">
            <a:avLst/>
          </a:prstGeom>
          <a:solidFill>
            <a:srgbClr val="157347"/>
          </a:solidFill>
          <a:ln w="12700">
            <a:solidFill>
              <a:srgbClr val="157347">
                <a:alpha val="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1161288" y="3291840"/>
            <a:ext cx="4215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Une stratégie personnalisée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987552" y="3904488"/>
            <a:ext cx="82296" cy="82296"/>
          </a:xfrm>
          <a:prstGeom prst="ellipse">
            <a:avLst/>
          </a:prstGeom>
          <a:solidFill>
            <a:srgbClr val="157347"/>
          </a:solidFill>
          <a:ln w="12700">
            <a:solidFill>
              <a:srgbClr val="157347">
                <a:alpha val="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161288" y="3794760"/>
            <a:ext cx="4215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 la rigueur et de la transparence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987552" y="4407408"/>
            <a:ext cx="82296" cy="82296"/>
          </a:xfrm>
          <a:prstGeom prst="ellipse">
            <a:avLst/>
          </a:prstGeom>
          <a:solidFill>
            <a:srgbClr val="157347"/>
          </a:solidFill>
          <a:ln w="12700">
            <a:solidFill>
              <a:srgbClr val="157347">
                <a:alpha val="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161288" y="4297680"/>
            <a:ext cx="4215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 accompagnement structuré dans la durée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620256" y="2898648"/>
            <a:ext cx="82296" cy="82296"/>
          </a:xfrm>
          <a:prstGeom prst="ellipse">
            <a:avLst/>
          </a:prstGeom>
          <a:solidFill>
            <a:srgbClr val="E83526"/>
          </a:solidFill>
          <a:ln w="12700">
            <a:solidFill>
              <a:srgbClr val="E83526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793992" y="2788920"/>
            <a:ext cx="4215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Une approbation garantie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620256" y="3401568"/>
            <a:ext cx="82296" cy="82296"/>
          </a:xfrm>
          <a:prstGeom prst="ellipse">
            <a:avLst/>
          </a:prstGeom>
          <a:solidFill>
            <a:srgbClr val="E83526"/>
          </a:solidFill>
          <a:ln w="12700">
            <a:solidFill>
              <a:srgbClr val="E83526">
                <a:alpha val="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793992" y="3291840"/>
            <a:ext cx="4215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 emploi garanti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6620256" y="3904488"/>
            <a:ext cx="82296" cy="82296"/>
          </a:xfrm>
          <a:prstGeom prst="ellipse">
            <a:avLst/>
          </a:prstGeom>
          <a:solidFill>
            <a:srgbClr val="E83526"/>
          </a:solidFill>
          <a:ln w="12700">
            <a:solidFill>
              <a:srgbClr val="E83526">
                <a:alpha val="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793992" y="3794760"/>
            <a:ext cx="4215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Une résidence permanente garantie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6620256" y="4407408"/>
            <a:ext cx="82296" cy="82296"/>
          </a:xfrm>
          <a:prstGeom prst="ellipse">
            <a:avLst/>
          </a:prstGeom>
          <a:solidFill>
            <a:srgbClr val="E83526"/>
          </a:solidFill>
          <a:ln w="12700">
            <a:solidFill>
              <a:srgbClr val="E83526">
                <a:alpha val="0"/>
              </a:srgbClr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793992" y="4297680"/>
            <a:ext cx="4215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 délais irréalistes ou “miracles”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658368" y="5376672"/>
            <a:ext cx="10863072" cy="713232"/>
          </a:xfrm>
          <a:prstGeom prst="roundRect">
            <a:avLst>
              <a:gd name="adj" fmla="val 20513"/>
            </a:avLst>
          </a:prstGeom>
          <a:solidFill>
            <a:srgbClr val="003C82"/>
          </a:solidFill>
          <a:ln w="12700">
            <a:solidFill>
              <a:srgbClr val="003C82">
                <a:alpha val="0"/>
              </a:srgbClr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932688" y="5550408"/>
            <a:ext cx="10314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8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« Nous ne vendons pas de rêve. Nous construisons une méthode et un chemin sécurisé. »</a:t>
            </a:r>
            <a:endParaRPr lang="en-US" sz="1780" dirty="0"/>
          </a:p>
        </p:txBody>
      </p:sp>
      <p:sp>
        <p:nvSpPr>
          <p:cNvPr id="30" name="Text 25"/>
          <p:cNvSpPr/>
          <p:nvPr/>
        </p:nvSpPr>
        <p:spPr>
          <a:xfrm>
            <a:off x="658368" y="6263640"/>
            <a:ext cx="10863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7B879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Toute décision appartient aux autorités compétentes. L’admissibilité est évaluée au cas par cas.</a:t>
            </a:r>
            <a:endParaRPr lang="en-US" sz="8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5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r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274320"/>
            <a:ext cx="640080" cy="6949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7548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spc="10" kern="0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VOTRE CANADA PEUT PRENDRE PLUSIEURS FORMES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658368" y="1188720"/>
            <a:ext cx="566928" cy="50292"/>
          </a:xfrm>
          <a:prstGeom prst="rect">
            <a:avLst/>
          </a:prstGeom>
          <a:solidFill>
            <a:srgbClr val="E83526"/>
          </a:solidFill>
          <a:ln w="12700">
            <a:solidFill>
              <a:srgbClr val="E83526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13075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C4D8E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Chaque projet est différent. Votre stratégie doit l’être aussi.</a:t>
            </a:r>
            <a:endParaRPr lang="en-US" sz="1480" dirty="0"/>
          </a:p>
        </p:txBody>
      </p:sp>
      <p:pic>
        <p:nvPicPr>
          <p:cNvPr id="6" name="Image 1" descr="/mnt/data/a_crisp_high_resolution_realistic_autumn_univers_batch_3.jpg">    </p:cNvPr>
          <p:cNvPicPr>
            <a:picLocks noChangeAspect="1"/>
          </p:cNvPicPr>
          <p:nvPr/>
        </p:nvPicPr>
        <p:blipFill>
          <a:blip r:embed="rId2"/>
          <a:srcRect l="28673" r="28673" t="0" b="0"/>
          <a:stretch/>
        </p:blipFill>
        <p:spPr>
          <a:xfrm>
            <a:off x="658368" y="1947672"/>
            <a:ext cx="2633472" cy="3474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58368" y="4544568"/>
            <a:ext cx="2633472" cy="877824"/>
          </a:xfrm>
          <a:prstGeom prst="rect">
            <a:avLst/>
          </a:prstGeom>
          <a:solidFill>
            <a:srgbClr val="071A33">
              <a:alpha val="83000"/>
            </a:srgbClr>
          </a:solidFill>
          <a:ln w="12700">
            <a:solidFill>
              <a:srgbClr val="071A33">
                <a:alpha val="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95528" y="4773168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ÉTUDIER</a:t>
            </a:r>
            <a:endParaRPr lang="en-US" sz="1600" dirty="0"/>
          </a:p>
        </p:txBody>
      </p:sp>
      <p:pic>
        <p:nvPicPr>
          <p:cNvPr id="9" name="Image 2" descr="/mnt/data/a_wide_realistic_industrial_manufacturing_factory_batch_4.jpg">    </p:cNvPr>
          <p:cNvPicPr>
            <a:picLocks noChangeAspect="1"/>
          </p:cNvPicPr>
          <p:nvPr/>
        </p:nvPicPr>
        <p:blipFill>
          <a:blip r:embed="rId3"/>
          <a:srcRect l="28673" r="28673" t="0" b="0"/>
          <a:stretch/>
        </p:blipFill>
        <p:spPr>
          <a:xfrm>
            <a:off x="3502152" y="1947672"/>
            <a:ext cx="2633472" cy="34747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502152" y="4544568"/>
            <a:ext cx="2633472" cy="877824"/>
          </a:xfrm>
          <a:prstGeom prst="rect">
            <a:avLst/>
          </a:prstGeom>
          <a:solidFill>
            <a:srgbClr val="071A33">
              <a:alpha val="83000"/>
            </a:srgbClr>
          </a:solidFill>
          <a:ln w="12700">
            <a:solidFill>
              <a:srgbClr val="071A33">
                <a:alpha val="0"/>
              </a:srgbClr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3639312" y="4773168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TRAVAILLER</a:t>
            </a:r>
            <a:endParaRPr lang="en-US" sz="1600" dirty="0"/>
          </a:p>
        </p:txBody>
      </p:sp>
      <p:pic>
        <p:nvPicPr>
          <p:cNvPr id="12" name="Image 3" descr="/mnt/data/wide_professional_corporate_meeting_room_scene_wi_batch_5.jpg">    </p:cNvPr>
          <p:cNvPicPr>
            <a:picLocks noChangeAspect="1"/>
          </p:cNvPicPr>
          <p:nvPr/>
        </p:nvPicPr>
        <p:blipFill>
          <a:blip r:embed="rId4"/>
          <a:srcRect l="28673" r="28673" t="0" b="0"/>
          <a:stretch/>
        </p:blipFill>
        <p:spPr>
          <a:xfrm>
            <a:off x="6345936" y="1947672"/>
            <a:ext cx="2633472" cy="347472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345936" y="4544568"/>
            <a:ext cx="2633472" cy="877824"/>
          </a:xfrm>
          <a:prstGeom prst="rect">
            <a:avLst/>
          </a:prstGeom>
          <a:solidFill>
            <a:srgbClr val="071A33">
              <a:alpha val="83000"/>
            </a:srgbClr>
          </a:solidFill>
          <a:ln w="12700">
            <a:solidFill>
              <a:srgbClr val="071A33">
                <a:alpha val="0"/>
              </a:srgbClr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6483096" y="4773168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ENTREPRENDRE</a:t>
            </a:r>
            <a:endParaRPr lang="en-US" sz="1600" dirty="0"/>
          </a:p>
        </p:txBody>
      </p:sp>
      <p:pic>
        <p:nvPicPr>
          <p:cNvPr id="15" name="Image 4" descr="/mnt/data/a_crisp_cinematic_realistic_winter_street_scene_batch_2.jpg">    </p:cNvPr>
          <p:cNvPicPr>
            <a:picLocks noChangeAspect="1"/>
          </p:cNvPicPr>
          <p:nvPr/>
        </p:nvPicPr>
        <p:blipFill>
          <a:blip r:embed="rId5"/>
          <a:srcRect l="31043" r="31043" t="0" b="0"/>
          <a:stretch/>
        </p:blipFill>
        <p:spPr>
          <a:xfrm>
            <a:off x="9189720" y="1947672"/>
            <a:ext cx="2340864" cy="3474720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89720" y="4544568"/>
            <a:ext cx="2340864" cy="877824"/>
          </a:xfrm>
          <a:prstGeom prst="rect">
            <a:avLst/>
          </a:prstGeom>
          <a:solidFill>
            <a:srgbClr val="071A33">
              <a:alpha val="83000"/>
            </a:srgbClr>
          </a:solidFill>
          <a:ln w="12700">
            <a:solidFill>
              <a:srgbClr val="071A33">
                <a:alpha val="0"/>
              </a:srgbClr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326880" y="477316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S’INSTALLER EN FAMILLE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658368" y="5833872"/>
            <a:ext cx="10863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IR vous aide à transformer l’envie en plan d’action réaliste.</a:t>
            </a:r>
            <a:endParaRPr lang="en-US" sz="2000" dirty="0"/>
          </a:p>
        </p:txBody>
      </p:sp>
      <p:sp>
        <p:nvSpPr>
          <p:cNvPr id="19" name="Text 12"/>
          <p:cNvSpPr/>
          <p:nvPr/>
        </p:nvSpPr>
        <p:spPr>
          <a:xfrm>
            <a:off x="658368" y="6492240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FC7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ir-immigration.com   •   WhatsApp 819 919 8683</a:t>
            </a:r>
            <a:endParaRPr lang="en-US" sz="8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5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 Ir immig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310896"/>
            <a:ext cx="640080" cy="6949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1170432"/>
            <a:ext cx="5897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0233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VOTRE PROCHAINE ÉTAPE :</a:t>
            </a:r>
            <a:endParaRPr lang="en-US" sz="2950" dirty="0"/>
          </a:p>
          <a:p>
            <a:pPr indent="0" marL="0">
              <a:buNone/>
            </a:pPr>
            <a:r>
              <a:rPr lang="en-US" sz="2950" b="1" dirty="0">
                <a:solidFill>
                  <a:srgbClr val="10233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UN DIAGNOSTIC CANADA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58368" y="2377440"/>
            <a:ext cx="5715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003C8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Avant de payer pour une procédure, clarifiez d’abord votre projet.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58368" y="3054096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3C8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389888" y="3054096"/>
            <a:ext cx="5102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90" dirty="0">
                <a:solidFill>
                  <a:srgbClr val="102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Nous écoutons votre objectif</a:t>
            </a:r>
            <a:endParaRPr lang="en-US" sz="1390" dirty="0"/>
          </a:p>
        </p:txBody>
      </p:sp>
      <p:sp>
        <p:nvSpPr>
          <p:cNvPr id="7" name="Shape 4"/>
          <p:cNvSpPr/>
          <p:nvPr/>
        </p:nvSpPr>
        <p:spPr>
          <a:xfrm>
            <a:off x="950976" y="3493008"/>
            <a:ext cx="0" cy="173736"/>
          </a:xfrm>
          <a:prstGeom prst="line">
            <a:avLst/>
          </a:prstGeom>
          <a:noFill/>
          <a:ln w="17780">
            <a:solidFill>
              <a:srgbClr val="B9C9DB"/>
            </a:solidFill>
            <a:prstDash val="solid"/>
            <a:headEnd type="none"/>
            <a:tailEnd type="none"/>
          </a:ln>
        </p:spPr>
      </p:sp>
      <p:sp>
        <p:nvSpPr>
          <p:cNvPr id="8" name="Text 5"/>
          <p:cNvSpPr/>
          <p:nvPr/>
        </p:nvSpPr>
        <p:spPr>
          <a:xfrm>
            <a:off x="658368" y="3666744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3C8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389888" y="3666744"/>
            <a:ext cx="5102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90" dirty="0">
                <a:solidFill>
                  <a:srgbClr val="102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Nous analysons les options possibles</a:t>
            </a:r>
            <a:endParaRPr lang="en-US" sz="1390" dirty="0"/>
          </a:p>
        </p:txBody>
      </p:sp>
      <p:sp>
        <p:nvSpPr>
          <p:cNvPr id="10" name="Shape 7"/>
          <p:cNvSpPr/>
          <p:nvPr/>
        </p:nvSpPr>
        <p:spPr>
          <a:xfrm>
            <a:off x="950976" y="4105656"/>
            <a:ext cx="0" cy="173736"/>
          </a:xfrm>
          <a:prstGeom prst="line">
            <a:avLst/>
          </a:prstGeom>
          <a:noFill/>
          <a:ln w="17780">
            <a:solidFill>
              <a:srgbClr val="B9C9DB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/>
          <p:nvPr/>
        </p:nvSpPr>
        <p:spPr>
          <a:xfrm>
            <a:off x="658368" y="4279392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3C8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389888" y="4279392"/>
            <a:ext cx="5102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90" dirty="0">
                <a:solidFill>
                  <a:srgbClr val="102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Nous identifions les risques et priorités</a:t>
            </a:r>
            <a:endParaRPr lang="en-US" sz="1390" dirty="0"/>
          </a:p>
        </p:txBody>
      </p:sp>
      <p:sp>
        <p:nvSpPr>
          <p:cNvPr id="13" name="Shape 10"/>
          <p:cNvSpPr/>
          <p:nvPr/>
        </p:nvSpPr>
        <p:spPr>
          <a:xfrm>
            <a:off x="950976" y="4718304"/>
            <a:ext cx="0" cy="173736"/>
          </a:xfrm>
          <a:prstGeom prst="line">
            <a:avLst/>
          </a:prstGeom>
          <a:noFill/>
          <a:ln w="17780">
            <a:solidFill>
              <a:srgbClr val="B9C9DB"/>
            </a:solidFill>
            <a:prstDash val="solid"/>
            <a:headEnd type="none"/>
            <a:tailEnd type="none"/>
          </a:ln>
        </p:spPr>
      </p:sp>
      <p:sp>
        <p:nvSpPr>
          <p:cNvPr id="14" name="Text 11"/>
          <p:cNvSpPr/>
          <p:nvPr/>
        </p:nvSpPr>
        <p:spPr>
          <a:xfrm>
            <a:off x="658368" y="4892040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8352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389888" y="4892040"/>
            <a:ext cx="5102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90" b="1" dirty="0">
                <a:solidFill>
                  <a:srgbClr val="102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Vous repartez avec une prochaine étape claire</a:t>
            </a:r>
            <a:endParaRPr lang="en-US" sz="1390" dirty="0"/>
          </a:p>
        </p:txBody>
      </p:sp>
      <p:sp>
        <p:nvSpPr>
          <p:cNvPr id="16" name="Shape 13"/>
          <p:cNvSpPr/>
          <p:nvPr/>
        </p:nvSpPr>
        <p:spPr>
          <a:xfrm>
            <a:off x="6995160" y="1143000"/>
            <a:ext cx="4553712" cy="4590288"/>
          </a:xfrm>
          <a:prstGeom prst="roundRect">
            <a:avLst>
              <a:gd name="adj" fmla="val 44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0" y="1536192"/>
            <a:ext cx="3913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3C8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PARLONS DE VOTRE PROJET</a:t>
            </a:r>
            <a:endParaRPr lang="en-US" sz="2000" dirty="0"/>
          </a:p>
        </p:txBody>
      </p:sp>
      <p:pic>
        <p:nvPicPr>
          <p:cNvPr id="18" name="Image 1" descr="/mnt/data/ir_whatsapp_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148840"/>
            <a:ext cx="2880360" cy="28803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406640" y="4892040"/>
            <a:ext cx="3675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5E6C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Scannez pour nous écrire sur WhatsApp</a:t>
            </a:r>
            <a:endParaRPr lang="en-US" sz="1130" dirty="0"/>
          </a:p>
        </p:txBody>
      </p:sp>
      <p:sp>
        <p:nvSpPr>
          <p:cNvPr id="20" name="Shape 16"/>
          <p:cNvSpPr/>
          <p:nvPr/>
        </p:nvSpPr>
        <p:spPr>
          <a:xfrm>
            <a:off x="7754112" y="5285232"/>
            <a:ext cx="2971800" cy="384048"/>
          </a:xfrm>
          <a:prstGeom prst="roundRect">
            <a:avLst>
              <a:gd name="adj" fmla="val 42857"/>
            </a:avLst>
          </a:prstGeom>
          <a:solidFill>
            <a:srgbClr val="E83526"/>
          </a:solidFill>
          <a:ln w="12700">
            <a:solidFill>
              <a:srgbClr val="E83526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54112" y="5294376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819 919 8683</a:t>
            </a:r>
            <a:endParaRPr lang="en-US" sz="1550" dirty="0"/>
          </a:p>
        </p:txBody>
      </p:sp>
      <p:sp>
        <p:nvSpPr>
          <p:cNvPr id="22" name="Text 18"/>
          <p:cNvSpPr/>
          <p:nvPr/>
        </p:nvSpPr>
        <p:spPr>
          <a:xfrm>
            <a:off x="7406640" y="5833872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C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ir-immigration.com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58368" y="6492240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7A87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ir-immigration.com   •   WhatsApp 819 919 8683</a:t>
            </a:r>
            <a:endParaRPr lang="en-US" sz="8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5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noramic_cityscape_at_dusk_blue_hour_a_high_batch_8.jpg">    </p:cNvPr>
          <p:cNvPicPr>
            <a:picLocks noChangeAspect="1"/>
          </p:cNvPicPr>
          <p:nvPr/>
        </p:nvPicPr>
        <p:blipFill>
          <a:blip r:embed="rId1"/>
          <a:srcRect l="0" r="-5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3">
              <a:alpha val="72000"/>
            </a:srgbClr>
          </a:solidFill>
          <a:ln w="12700">
            <a:solidFill>
              <a:srgbClr val="071A33">
                <a:alpha val="0"/>
              </a:srgbClr>
            </a:solidFill>
            <a:prstDash val="solid"/>
          </a:ln>
        </p:spPr>
      </p:sp>
      <p:pic>
        <p:nvPicPr>
          <p:cNvPr id="4" name="Image 1" descr="/mnt/data/ir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588" y="384048"/>
            <a:ext cx="640080" cy="6949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920240"/>
            <a:ext cx="103510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LE CANADA N’EST PAS UN RÊVE À ACHETER.</a:t>
            </a:r>
            <a:endParaRPr lang="en-US" sz="3150" dirty="0"/>
          </a:p>
          <a:p>
            <a:pPr algn="ctr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C’EST UN PROJET À CONSTRUIRE.</a:t>
            </a:r>
            <a:endParaRPr lang="en-US" sz="3150" dirty="0"/>
          </a:p>
        </p:txBody>
      </p:sp>
      <p:sp>
        <p:nvSpPr>
          <p:cNvPr id="6" name="Shape 2"/>
          <p:cNvSpPr/>
          <p:nvPr/>
        </p:nvSpPr>
        <p:spPr>
          <a:xfrm>
            <a:off x="4663440" y="3364992"/>
            <a:ext cx="2880360" cy="50292"/>
          </a:xfrm>
          <a:prstGeom prst="rect">
            <a:avLst/>
          </a:prstGeom>
          <a:solidFill>
            <a:srgbClr val="E83526"/>
          </a:solidFill>
          <a:ln w="12700">
            <a:solidFill>
              <a:srgbClr val="E83526">
                <a:alpha val="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3712464"/>
            <a:ext cx="10351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DCE9F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Construisons le vôtre avec méthode.</a:t>
            </a:r>
            <a:endParaRPr lang="en-US" sz="2050" dirty="0"/>
          </a:p>
        </p:txBody>
      </p:sp>
      <p:sp>
        <p:nvSpPr>
          <p:cNvPr id="8" name="Shape 4"/>
          <p:cNvSpPr/>
          <p:nvPr/>
        </p:nvSpPr>
        <p:spPr>
          <a:xfrm>
            <a:off x="4096512" y="4800600"/>
            <a:ext cx="4005072" cy="603504"/>
          </a:xfrm>
          <a:prstGeom prst="roundRect">
            <a:avLst>
              <a:gd name="adj" fmla="val 30303"/>
            </a:avLst>
          </a:prstGeom>
          <a:solidFill>
            <a:srgbClr val="003C82"/>
          </a:solidFill>
          <a:ln w="12700">
            <a:solidFill>
              <a:srgbClr val="003C82">
                <a:alpha val="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096512" y="4928616"/>
            <a:ext cx="4005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ir-immigration.com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3977640" y="5632704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WhatsApp : 819 919 8683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5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 Condens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IR Immigration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Votre projet Canada commence ici</dc:title>
  <dc:subject>Présentation commerciale IR Immigration</dc:subject>
  <dc:creator>IR Immigration</dc:creator>
  <cp:lastModifiedBy>IR Immigration</cp:lastModifiedBy>
  <cp:revision>1</cp:revision>
  <dcterms:created xsi:type="dcterms:W3CDTF">2026-09-18T07:06:42Z</dcterms:created>
  <dcterms:modified xsi:type="dcterms:W3CDTF">2026-09-18T07:06:42Z</dcterms:modified>
</cp:coreProperties>
</file>